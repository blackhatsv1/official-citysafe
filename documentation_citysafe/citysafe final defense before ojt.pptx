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Helvetica World" panose="020B0604020202020204" charset="-128"/>
      <p:regular r:id="rId7"/>
    </p:embeddedFont>
    <p:embeddedFont>
      <p:font typeface="Anton" pitchFamily="2" charset="0"/>
      <p:regular r:id="rId8"/>
    </p:embeddedFont>
    <p:embeddedFont>
      <p:font typeface="Norwester" panose="020B0604020202020204" charset="0"/>
      <p:regular r:id="rId9"/>
    </p:embeddedFont>
    <p:embeddedFont>
      <p:font typeface="Raleway" pitchFamily="2" charset="0"/>
      <p:regular r:id="rId10"/>
    </p:embeddedFont>
    <p:embeddedFont>
      <p:font typeface="Raleway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358858" y="490732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 flipV="1">
            <a:off x="15399382" y="490732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9053909"/>
            <a:ext cx="263267" cy="204391"/>
          </a:xfrm>
          <a:custGeom>
            <a:avLst/>
            <a:gdLst/>
            <a:ahLst/>
            <a:cxnLst/>
            <a:rect l="l" t="t" r="r" b="b"/>
            <a:pathLst>
              <a:path w="263267" h="204391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996033" y="9053909"/>
            <a:ext cx="263267" cy="204391"/>
          </a:xfrm>
          <a:custGeom>
            <a:avLst/>
            <a:gdLst/>
            <a:ahLst/>
            <a:cxnLst/>
            <a:rect l="l" t="t" r="r" b="b"/>
            <a:pathLst>
              <a:path w="263267" h="204391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1028700"/>
            <a:ext cx="1337383" cy="1157444"/>
          </a:xfrm>
          <a:custGeom>
            <a:avLst/>
            <a:gdLst/>
            <a:ahLst/>
            <a:cxnLst/>
            <a:rect l="l" t="t" r="r" b="b"/>
            <a:pathLst>
              <a:path w="1337383" h="1157444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00678" y="3706287"/>
            <a:ext cx="14486644" cy="245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83"/>
              </a:lnSpc>
            </a:pPr>
            <a:r>
              <a:rPr lang="en-US" sz="15062" spc="-73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PROJECT SYNTHESIS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39922" y="1769062"/>
            <a:ext cx="9808157" cy="777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7"/>
              </a:lnSpc>
            </a:pPr>
            <a:r>
              <a:rPr lang="en-US" sz="4755" spc="-233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CITYSAFE: URBAN DISASTER RESPONSE APP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15921917" y="1048018"/>
            <a:ext cx="1337383" cy="1157444"/>
          </a:xfrm>
          <a:custGeom>
            <a:avLst/>
            <a:gdLst/>
            <a:ahLst/>
            <a:cxnLst/>
            <a:rect l="l" t="t" r="r" b="b"/>
            <a:pathLst>
              <a:path w="1337383" h="1157444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39521" y="2561885"/>
            <a:ext cx="5980010" cy="6696415"/>
            <a:chOff x="0" y="0"/>
            <a:chExt cx="6350000" cy="71107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7110730"/>
            </a:xfrm>
            <a:custGeom>
              <a:avLst/>
              <a:gdLst/>
              <a:ahLst/>
              <a:cxnLst/>
              <a:rect l="l" t="t" r="r" b="b"/>
              <a:pathLst>
                <a:path w="6350000" h="711073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33880" r="-33880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flipV="1">
            <a:off x="14011825" y="102870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8317705" y="102870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047628" y="1860571"/>
            <a:ext cx="10726933" cy="1979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PROJECT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973" y="990600"/>
            <a:ext cx="1794990" cy="38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CITYSAFE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47628" y="4075060"/>
            <a:ext cx="10498339" cy="5472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1291" lvl="1" indent="-320646" algn="l">
              <a:lnSpc>
                <a:spcPts val="3861"/>
              </a:lnSpc>
              <a:buFont typeface="Arial"/>
              <a:buChar char="•"/>
            </a:pPr>
            <a:r>
              <a:rPr lang="en-US" sz="2970" spc="-89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community-based system, to improve communication, disaster monitoring and coordination during disasters.</a:t>
            </a:r>
          </a:p>
          <a:p>
            <a:pPr algn="l">
              <a:lnSpc>
                <a:spcPts val="3861"/>
              </a:lnSpc>
            </a:pPr>
            <a:endParaRPr lang="en-US" sz="2970" spc="-89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641291" lvl="1" indent="-320646" algn="l">
              <a:lnSpc>
                <a:spcPts val="3861"/>
              </a:lnSpc>
              <a:buFont typeface="Arial"/>
              <a:buChar char="•"/>
            </a:pPr>
            <a:r>
              <a:rPr lang="en-US" sz="2970" spc="-89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Connects citizens, donors, responders,  one unified platform.</a:t>
            </a:r>
          </a:p>
          <a:p>
            <a:pPr algn="l">
              <a:lnSpc>
                <a:spcPts val="3861"/>
              </a:lnSpc>
            </a:pPr>
            <a:endParaRPr lang="en-US" sz="2970" spc="-89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641291" lvl="1" indent="-320646" algn="l">
              <a:lnSpc>
                <a:spcPts val="3861"/>
              </a:lnSpc>
              <a:buFont typeface="Arial"/>
              <a:buChar char="•"/>
            </a:pPr>
            <a:r>
              <a:rPr lang="en-US" sz="2970" spc="-89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real-time mapping with Leaflet.js for locating stations, responders, and affected citizens.</a:t>
            </a:r>
          </a:p>
          <a:p>
            <a:pPr algn="l">
              <a:lnSpc>
                <a:spcPts val="3861"/>
              </a:lnSpc>
            </a:pPr>
            <a:endParaRPr lang="en-US" sz="2970" spc="-89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641291" lvl="1" indent="-320646" algn="l">
              <a:lnSpc>
                <a:spcPts val="3861"/>
              </a:lnSpc>
              <a:buFont typeface="Arial"/>
              <a:buChar char="•"/>
            </a:pPr>
            <a:r>
              <a:rPr lang="en-US" sz="2970" spc="-89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 </a:t>
            </a:r>
            <a:r>
              <a:rPr lang="en-US" sz="2970" spc="-8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follow the stages </a:t>
            </a:r>
            <a:r>
              <a:rPr lang="en-US" sz="2970" spc="-89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planning, design, implementation, and evaluation.</a:t>
            </a:r>
          </a:p>
          <a:p>
            <a:pPr algn="l">
              <a:lnSpc>
                <a:spcPts val="3861"/>
              </a:lnSpc>
            </a:pPr>
            <a:endParaRPr lang="en-US" sz="2970" spc="-89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982291" y="1028700"/>
            <a:ext cx="4258605" cy="4768786"/>
            <a:chOff x="0" y="0"/>
            <a:chExt cx="6350000" cy="71107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7110730"/>
            </a:xfrm>
            <a:custGeom>
              <a:avLst/>
              <a:gdLst/>
              <a:ahLst/>
              <a:cxnLst/>
              <a:rect l="l" t="t" r="r" b="b"/>
              <a:pathLst>
                <a:path w="6350000" h="711073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49537" r="-49537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8503362" y="886549"/>
            <a:ext cx="4258605" cy="4768786"/>
            <a:chOff x="0" y="0"/>
            <a:chExt cx="6350000" cy="71107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7110730"/>
            </a:xfrm>
            <a:custGeom>
              <a:avLst/>
              <a:gdLst/>
              <a:ahLst/>
              <a:cxnLst/>
              <a:rect l="l" t="t" r="r" b="b"/>
              <a:pathLst>
                <a:path w="6350000" h="711073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4"/>
              <a:stretch>
                <a:fillRect l="-68075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2898" y="3317843"/>
            <a:ext cx="7260141" cy="133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54"/>
              </a:lnSpc>
            </a:pPr>
            <a:r>
              <a:rPr lang="en-US" sz="8147" spc="-39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ACCOMPLISHMENTS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973" y="990600"/>
            <a:ext cx="1794990" cy="38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CITYSAFE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0973" y="7211775"/>
            <a:ext cx="4790383" cy="239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2952" spc="-8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Successfully designed and developed a working prototype with functional features for reporting, locating, tracking disaster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2898" y="6359943"/>
            <a:ext cx="4185349" cy="62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5"/>
              </a:lnSpc>
            </a:pPr>
            <a:r>
              <a:rPr lang="en-US" sz="3799" spc="-186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SYSTEM DEVELOPMENT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68046" y="7211775"/>
            <a:ext cx="4337924" cy="197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4"/>
              </a:lnSpc>
            </a:pPr>
            <a:r>
              <a:rPr lang="en-US" sz="3041" spc="-9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Integrated an interactive map for live disaster response visualization, with radar like monitoring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68046" y="6359943"/>
            <a:ext cx="4185349" cy="62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5"/>
              </a:lnSpc>
            </a:pPr>
            <a:r>
              <a:rPr lang="en-US" sz="3799" spc="-186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INTERACTIVE MAP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9192" y="6359943"/>
            <a:ext cx="4185349" cy="62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5"/>
              </a:lnSpc>
            </a:pPr>
            <a:r>
              <a:rPr lang="en-US" sz="3799" spc="-186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SURVEY EVALUATION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39192" y="7221300"/>
            <a:ext cx="6089185" cy="275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9"/>
              </a:lnSpc>
            </a:pPr>
            <a:r>
              <a:rPr lang="en-US" sz="2838" spc="-8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Respondents rated our system as:</a:t>
            </a:r>
          </a:p>
          <a:p>
            <a:pPr marL="612765" lvl="1" indent="-306383" algn="l">
              <a:lnSpc>
                <a:spcPts val="3689"/>
              </a:lnSpc>
              <a:buFont typeface="Arial"/>
              <a:buChar char="•"/>
            </a:pPr>
            <a:r>
              <a:rPr lang="en-US" sz="2838" spc="-8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Satisfactory in system performance.</a:t>
            </a:r>
          </a:p>
          <a:p>
            <a:pPr marL="612765" lvl="1" indent="-306383" algn="l">
              <a:lnSpc>
                <a:spcPts val="3689"/>
              </a:lnSpc>
              <a:buFont typeface="Arial"/>
              <a:buChar char="•"/>
            </a:pPr>
            <a:r>
              <a:rPr lang="en-US" sz="2838" spc="-8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User-friendly and easy to navigate.</a:t>
            </a:r>
          </a:p>
          <a:p>
            <a:pPr marL="612765" lvl="1" indent="-306383" algn="l">
              <a:lnSpc>
                <a:spcPts val="3689"/>
              </a:lnSpc>
              <a:buFont typeface="Arial"/>
              <a:buChar char="•"/>
            </a:pPr>
            <a:r>
              <a:rPr lang="en-US" sz="2838" spc="-8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Helpful and effective in improving disaster response and coordination.</a:t>
            </a:r>
          </a:p>
          <a:p>
            <a:pPr algn="l">
              <a:lnSpc>
                <a:spcPts val="3689"/>
              </a:lnSpc>
            </a:pPr>
            <a:endParaRPr lang="en-US" sz="2838" spc="-85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492" y="1019175"/>
            <a:ext cx="509155" cy="478605"/>
          </a:xfrm>
          <a:custGeom>
            <a:avLst/>
            <a:gdLst/>
            <a:ahLst/>
            <a:cxnLst/>
            <a:rect l="l" t="t" r="r" b="b"/>
            <a:pathLst>
              <a:path w="509155" h="478605">
                <a:moveTo>
                  <a:pt x="0" y="0"/>
                </a:moveTo>
                <a:lnTo>
                  <a:pt x="509155" y="0"/>
                </a:lnTo>
                <a:lnTo>
                  <a:pt x="509155" y="478605"/>
                </a:lnTo>
                <a:lnTo>
                  <a:pt x="0" y="4786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13855" y="9068185"/>
            <a:ext cx="445445" cy="445445"/>
          </a:xfrm>
          <a:custGeom>
            <a:avLst/>
            <a:gdLst/>
            <a:ahLst/>
            <a:cxnLst/>
            <a:rect l="l" t="t" r="r" b="b"/>
            <a:pathLst>
              <a:path w="445445" h="445445">
                <a:moveTo>
                  <a:pt x="0" y="0"/>
                </a:moveTo>
                <a:lnTo>
                  <a:pt x="445445" y="0"/>
                </a:lnTo>
                <a:lnTo>
                  <a:pt x="445445" y="445444"/>
                </a:lnTo>
                <a:lnTo>
                  <a:pt x="0" y="445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3127342" y="4888183"/>
            <a:ext cx="3969987" cy="7855302"/>
            <a:chOff x="0" y="0"/>
            <a:chExt cx="2620010" cy="5184140"/>
          </a:xfrm>
        </p:grpSpPr>
        <p:sp>
          <p:nvSpPr>
            <p:cNvPr id="5" name="Freeform 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gradFill rotWithShape="1">
              <a:gsLst>
                <a:gs pos="0">
                  <a:srgbClr val="050D18">
                    <a:alpha val="100000"/>
                  </a:srgbClr>
                </a:gs>
                <a:gs pos="100000">
                  <a:srgbClr val="38093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Freeform 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140207" r="-8505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778548" y="2529385"/>
            <a:ext cx="2359620" cy="1778702"/>
            <a:chOff x="0" y="0"/>
            <a:chExt cx="621464" cy="46846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1464" cy="468465"/>
            </a:xfrm>
            <a:custGeom>
              <a:avLst/>
              <a:gdLst/>
              <a:ahLst/>
              <a:cxnLst/>
              <a:rect l="l" t="t" r="r" b="b"/>
              <a:pathLst>
                <a:path w="621464" h="468465">
                  <a:moveTo>
                    <a:pt x="0" y="0"/>
                  </a:moveTo>
                  <a:lnTo>
                    <a:pt x="621464" y="0"/>
                  </a:lnTo>
                  <a:lnTo>
                    <a:pt x="621464" y="468465"/>
                  </a:lnTo>
                  <a:lnTo>
                    <a:pt x="0" y="468465"/>
                  </a:lnTo>
                  <a:close/>
                </a:path>
              </a:pathLst>
            </a:custGeom>
            <a:gradFill rotWithShape="1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21464" cy="506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78548" y="4493172"/>
            <a:ext cx="2359620" cy="1778702"/>
            <a:chOff x="0" y="0"/>
            <a:chExt cx="621464" cy="4684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21464" cy="468465"/>
            </a:xfrm>
            <a:custGeom>
              <a:avLst/>
              <a:gdLst/>
              <a:ahLst/>
              <a:cxnLst/>
              <a:rect l="l" t="t" r="r" b="b"/>
              <a:pathLst>
                <a:path w="621464" h="468465">
                  <a:moveTo>
                    <a:pt x="0" y="0"/>
                  </a:moveTo>
                  <a:lnTo>
                    <a:pt x="621464" y="0"/>
                  </a:lnTo>
                  <a:lnTo>
                    <a:pt x="621464" y="468465"/>
                  </a:lnTo>
                  <a:lnTo>
                    <a:pt x="0" y="468465"/>
                  </a:lnTo>
                  <a:close/>
                </a:path>
              </a:pathLst>
            </a:custGeom>
            <a:gradFill rotWithShape="1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21464" cy="506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778548" y="6452849"/>
            <a:ext cx="2359620" cy="1778702"/>
            <a:chOff x="0" y="0"/>
            <a:chExt cx="621464" cy="4684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21464" cy="468465"/>
            </a:xfrm>
            <a:custGeom>
              <a:avLst/>
              <a:gdLst/>
              <a:ahLst/>
              <a:cxnLst/>
              <a:rect l="l" t="t" r="r" b="b"/>
              <a:pathLst>
                <a:path w="621464" h="468465">
                  <a:moveTo>
                    <a:pt x="0" y="0"/>
                  </a:moveTo>
                  <a:lnTo>
                    <a:pt x="621464" y="0"/>
                  </a:lnTo>
                  <a:lnTo>
                    <a:pt x="621464" y="468465"/>
                  </a:lnTo>
                  <a:lnTo>
                    <a:pt x="0" y="468465"/>
                  </a:lnTo>
                  <a:close/>
                </a:path>
              </a:pathLst>
            </a:custGeom>
            <a:gradFill rotWithShape="1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21464" cy="506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37726" y="2388563"/>
            <a:ext cx="281644" cy="28164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465468" y="1039787"/>
            <a:ext cx="1323748" cy="418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3"/>
              </a:lnSpc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CITY</a:t>
            </a:r>
          </a:p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SAFE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66773" y="9030085"/>
            <a:ext cx="1323748" cy="418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3"/>
              </a:lnSpc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</a:t>
            </a:r>
          </a:p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05/15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19492" y="2278588"/>
            <a:ext cx="6108171" cy="2214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8"/>
              </a:lnSpc>
            </a:pPr>
            <a:r>
              <a:rPr lang="en-US" sz="79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OVERALL SYNTHESIS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44000" y="2995644"/>
            <a:ext cx="1481999" cy="704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What we  Achieved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18487" y="2737506"/>
            <a:ext cx="5418091" cy="1254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3"/>
              </a:lnSpc>
              <a:spcBef>
                <a:spcPct val="0"/>
              </a:spcBef>
            </a:pPr>
            <a:r>
              <a:rPr lang="en-US" sz="2359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Met the main objectives of improving the disaster preparedness, monitoring, communication, and safety awareness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19370" y="5010620"/>
            <a:ext cx="2243015" cy="704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Future Improvements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618487" y="4691768"/>
            <a:ext cx="5418091" cy="1399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3"/>
              </a:lnSpc>
              <a:spcBef>
                <a:spcPct val="0"/>
              </a:spcBef>
            </a:pPr>
            <a:r>
              <a:rPr lang="en-US" sz="2659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With future upgrades, offline mode, full mobile app support, and LGU integration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0" y="7166277"/>
            <a:ext cx="1885040" cy="361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Prototype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18487" y="6660970"/>
            <a:ext cx="5418091" cy="1335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3"/>
              </a:lnSpc>
              <a:spcBef>
                <a:spcPct val="0"/>
              </a:spcBef>
            </a:pPr>
            <a:r>
              <a:rPr lang="en-US" sz="2559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prototype can serve as a foundation </a:t>
            </a:r>
            <a:r>
              <a:rPr lang="en-US" sz="25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for the real-world </a:t>
            </a:r>
            <a:r>
              <a:rPr lang="en-US" sz="2559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disaster </a:t>
            </a:r>
            <a:r>
              <a:rPr lang="en-US" sz="25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management system</a:t>
            </a:r>
            <a:endParaRPr lang="en-US" sz="2559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8637726" y="4420706"/>
            <a:ext cx="281644" cy="28164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637726" y="6407901"/>
            <a:ext cx="281644" cy="281644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358858" y="490732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 flipV="1">
            <a:off x="15399382" y="490732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5921917" y="8100856"/>
            <a:ext cx="1337383" cy="1157444"/>
          </a:xfrm>
          <a:custGeom>
            <a:avLst/>
            <a:gdLst/>
            <a:ahLst/>
            <a:cxnLst/>
            <a:rect l="l" t="t" r="r" b="b"/>
            <a:pathLst>
              <a:path w="1337383" h="1157444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1028700" y="8081538"/>
            <a:ext cx="1337383" cy="1157444"/>
          </a:xfrm>
          <a:custGeom>
            <a:avLst/>
            <a:gdLst/>
            <a:ahLst/>
            <a:cxnLst/>
            <a:rect l="l" t="t" r="r" b="b"/>
            <a:pathLst>
              <a:path w="1337383" h="1157444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16996033" y="1028700"/>
            <a:ext cx="263267" cy="204391"/>
          </a:xfrm>
          <a:custGeom>
            <a:avLst/>
            <a:gdLst/>
            <a:ahLst/>
            <a:cxnLst/>
            <a:rect l="l" t="t" r="r" b="b"/>
            <a:pathLst>
              <a:path w="263267" h="204391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H="1">
            <a:off x="1028700" y="1028700"/>
            <a:ext cx="263267" cy="204391"/>
          </a:xfrm>
          <a:custGeom>
            <a:avLst/>
            <a:gdLst/>
            <a:ahLst/>
            <a:cxnLst/>
            <a:rect l="l" t="t" r="r" b="b"/>
            <a:pathLst>
              <a:path w="263267" h="204391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35963" y="3447612"/>
            <a:ext cx="12616074" cy="316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0"/>
              </a:lnSpc>
            </a:pPr>
            <a:r>
              <a:rPr lang="en-US" sz="19386" spc="-94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46505" y="1415805"/>
            <a:ext cx="1794990" cy="383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CITYSAFE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191</Words>
  <Application>Microsoft Office PowerPoint</Application>
  <PresentationFormat>Custom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Raleway Bold</vt:lpstr>
      <vt:lpstr>Helvetica World</vt:lpstr>
      <vt:lpstr>Raleway</vt:lpstr>
      <vt:lpstr>Calibri</vt:lpstr>
      <vt:lpstr>Anton</vt:lpstr>
      <vt:lpstr>Norwester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citysafe final defense before ojt</dc:title>
  <cp:lastModifiedBy>blackhats V1</cp:lastModifiedBy>
  <cp:revision>4</cp:revision>
  <dcterms:created xsi:type="dcterms:W3CDTF">2006-08-16T00:00:00Z</dcterms:created>
  <dcterms:modified xsi:type="dcterms:W3CDTF">2025-10-28T05:04:46Z</dcterms:modified>
  <dc:identifier>DAG3CHsv2ks</dc:identifier>
</cp:coreProperties>
</file>